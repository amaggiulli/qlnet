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003366"/>
                </a:solidFill>
              </a:rPr>
              <a:t>QLNet Library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Comprehensive Financial Library for .NET</a:t>
            </a:r>
          </a:p>
          <a:p>
            <a:r>
              <a:t>High-Level Overview of Capabilities and Utilities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QLNet?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C# port of QuantLib - the industry-standard quantitative finance library</a:t>
            </a:r>
          </a:p>
          <a:p>
            <a:pPr>
              <a:defRPr sz="1800"/>
            </a:pPr>
            <a:r>
              <a:t>Free and open-source financial library for quantitative analysts</a:t>
            </a:r>
          </a:p>
          <a:p>
            <a:pPr>
              <a:defRPr sz="1800"/>
            </a:pPr>
            <a:r>
              <a:t>Handles modeling, valuation, and risk analysis of financial instruments</a:t>
            </a:r>
          </a:p>
          <a:p>
            <a:pPr>
              <a:defRPr sz="1800"/>
            </a:pPr>
            <a:r>
              <a:t>Based on 20+ years of QuantLib development and financial mathematics</a:t>
            </a:r>
          </a:p>
          <a:p>
            <a:pPr>
              <a:defRPr sz="1800"/>
            </a:pPr>
            <a:r>
              <a:t>Integrates seamlessly with the .NET ecosystem</a:t>
            </a:r>
          </a:p>
          <a:p>
            <a:pPr>
              <a:defRPr sz="1800"/>
            </a:pPr>
            <a:r>
              <a:t>Available via NuGet package manager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03366"/>
                </a:solidFill>
              </a:rPr>
              <a:t>Core Capabilities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Instruments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Options:</a:t>
            </a:r>
          </a:p>
          <a:p>
            <a:pPr lvl="1">
              <a:defRPr sz="1600"/>
            </a:pPr>
            <a:r>
              <a:t>European, American, Bermudan options</a:t>
            </a:r>
          </a:p>
          <a:p>
            <a:pPr lvl="1">
              <a:defRPr sz="1600"/>
            </a:pPr>
            <a:r>
              <a:t>Barrier, Asian, Lookback, Basket options</a:t>
            </a:r>
          </a:p>
          <a:p>
            <a:pPr lvl="1">
              <a:defRPr sz="1600"/>
            </a:pPr>
            <a:r>
              <a:t>Forward Vanilla, Cliquet, Multi-asset options</a:t>
            </a:r>
          </a:p>
          <a:p>
            <a:pPr>
              <a:defRPr sz="1800"/>
            </a:pPr>
            <a:r>
              <a:t>Fixed Income:</a:t>
            </a:r>
          </a:p>
          <a:p>
            <a:pPr lvl="1">
              <a:defRPr sz="1600"/>
            </a:pPr>
            <a:r>
              <a:t>Bonds: Fixed, Floating, Zero-Coupon, Callable</a:t>
            </a:r>
          </a:p>
          <a:p>
            <a:pPr lvl="1">
              <a:defRPr sz="1600"/>
            </a:pPr>
            <a:r>
              <a:t>Convertible Bonds, MBS, CPI Bonds, CAT Bonds</a:t>
            </a:r>
          </a:p>
          <a:p>
            <a:pPr>
              <a:defRPr sz="1800"/>
            </a:pPr>
            <a:r>
              <a:t>Swaps &amp; Derivatives:</a:t>
            </a:r>
          </a:p>
          <a:p>
            <a:pPr lvl="1">
              <a:defRPr sz="1600"/>
            </a:pPr>
            <a:r>
              <a:t>Vanilla Swaps, Basis Swaps, OIS, Float-Float</a:t>
            </a:r>
          </a:p>
          <a:p>
            <a:pPr lvl="1">
              <a:defRPr sz="1600"/>
            </a:pPr>
            <a:r>
              <a:t>Swaptions, Caps, Floors, Collars</a:t>
            </a:r>
          </a:p>
          <a:p>
            <a:pPr lvl="1">
              <a:defRPr sz="1600"/>
            </a:pPr>
            <a:r>
              <a:t>Credit Default Swaps, FRAs, Asset Swaps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Engines (70+ Available)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Analytical Methods:</a:t>
            </a:r>
          </a:p>
          <a:p>
            <a:pPr lvl="1">
              <a:defRPr sz="1600"/>
            </a:pPr>
            <a:r>
              <a:t>Black-Scholes, Black formula, closed-form solutions</a:t>
            </a:r>
          </a:p>
          <a:p>
            <a:pPr>
              <a:defRPr sz="1800"/>
            </a:pPr>
            <a:r>
              <a:t>Tree-Based Methods:</a:t>
            </a:r>
          </a:p>
          <a:p>
            <a:pPr lvl="1">
              <a:defRPr sz="1600"/>
            </a:pPr>
            <a:r>
              <a:t>Binomial trees, Trinomial trees</a:t>
            </a:r>
          </a:p>
          <a:p>
            <a:pPr lvl="1">
              <a:defRPr sz="1600"/>
            </a:pPr>
            <a:r>
              <a:t>Support for American and Bermudan exercise</a:t>
            </a:r>
          </a:p>
          <a:p>
            <a:pPr>
              <a:defRPr sz="1800"/>
            </a:pPr>
            <a:r>
              <a:t>Monte Carlo Simulation:</a:t>
            </a:r>
          </a:p>
          <a:p>
            <a:pPr lvl="1">
              <a:defRPr sz="1600"/>
            </a:pPr>
            <a:r>
              <a:t>Generic MC framework with path generation</a:t>
            </a:r>
          </a:p>
          <a:p>
            <a:pPr lvl="1">
              <a:defRPr sz="1600"/>
            </a:pPr>
            <a:r>
              <a:t>Longstaff-Schwartz for American options</a:t>
            </a:r>
          </a:p>
          <a:p>
            <a:pPr>
              <a:defRPr sz="1800"/>
            </a:pPr>
            <a:r>
              <a:t>Finite Differences:</a:t>
            </a:r>
          </a:p>
          <a:p>
            <a:pPr lvl="1">
              <a:defRPr sz="1600"/>
            </a:pPr>
            <a:r>
              <a:t>PDE solvers for option pricing</a:t>
            </a:r>
          </a:p>
          <a:p>
            <a:pPr>
              <a:defRPr sz="1800"/>
            </a:pPr>
            <a:r>
              <a:t>Greeks Calculation:</a:t>
            </a:r>
          </a:p>
          <a:p>
            <a:pPr lvl="1">
              <a:defRPr sz="1600"/>
            </a:pPr>
            <a:r>
              <a:t>Delta, Gamma, Theta, Vega, Rho (analytical &amp; numerical)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03366"/>
                </a:solidFill>
              </a:rPr>
              <a:t>Mathematical Infrastructure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Tools (100+ Utilities)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• Interpolation (15+ methods):</a:t>
            </a:r>
          </a:p>
          <a:p>
            <a:pPr>
              <a:defRPr sz="1400"/>
            </a:pPr>
            <a:r>
              <a:t>  - Cubic splines (Natural, Monotonic)</a:t>
            </a:r>
          </a:p>
          <a:p>
            <a:pPr>
              <a:defRPr sz="1400"/>
            </a:pPr>
            <a:r>
              <a:t>  - SABR, Log-linear, Bilinear</a:t>
            </a:r>
          </a:p>
          <a:p>
            <a:pPr>
              <a:defRPr sz="1400"/>
            </a:pPr>
            <a:r>
              <a:t>  - Kernel-based, Vanna-Volga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• Optimization:</a:t>
            </a:r>
          </a:p>
          <a:p>
            <a:pPr>
              <a:defRPr sz="1400"/>
            </a:pPr>
            <a:r>
              <a:t>  - BFGS, Simplex, Levenberg-Marquardt</a:t>
            </a:r>
          </a:p>
          <a:p>
            <a:pPr>
              <a:defRPr sz="1400"/>
            </a:pPr>
            <a:r>
              <a:t>  - Differential Evolution</a:t>
            </a:r>
          </a:p>
          <a:p>
            <a:pPr>
              <a:defRPr sz="1400"/>
            </a:pPr>
            <a:r>
              <a:t>  - Simulated Annealing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• Root Solvers:</a:t>
            </a:r>
          </a:p>
          <a:p>
            <a:pPr>
              <a:defRPr sz="1400"/>
            </a:pPr>
            <a:r>
              <a:t>  - Newton, Brent, Bisection</a:t>
            </a:r>
          </a:p>
          <a:p>
            <a:pPr>
              <a:defRPr sz="1400"/>
            </a:pPr>
            <a:r>
              <a:t>  - Secant, Ridder, False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• Distributions:</a:t>
            </a:r>
          </a:p>
          <a:p>
            <a:pPr>
              <a:defRPr sz="1400"/>
            </a:pPr>
            <a:r>
              <a:t>  - Normal, Bivariate Normal</a:t>
            </a:r>
          </a:p>
          <a:p>
            <a:pPr>
              <a:defRPr sz="1400"/>
            </a:pPr>
            <a:r>
              <a:t>  - Chi-Square, Gamma, Poisson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• Integration:</a:t>
            </a:r>
          </a:p>
          <a:p>
            <a:pPr>
              <a:defRPr sz="1400"/>
            </a:pPr>
            <a:r>
              <a:t>  - Gaussian quadratures</a:t>
            </a:r>
          </a:p>
          <a:p>
            <a:pPr>
              <a:defRPr sz="1400"/>
            </a:pPr>
            <a:r>
              <a:t>  - Simpson, Trapezoid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• Linear Algebra:</a:t>
            </a:r>
          </a:p>
          <a:p>
            <a:pPr>
              <a:defRPr sz="1400"/>
            </a:pPr>
            <a:r>
              <a:t>  - SVD, QR decomposition</a:t>
            </a:r>
          </a:p>
          <a:p>
            <a:pPr>
              <a:defRPr sz="1400"/>
            </a:pPr>
            <a:r>
              <a:t>  - Sparse matrices, Iterative solvers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• Random Numbers:</a:t>
            </a:r>
          </a:p>
          <a:p>
            <a:pPr>
              <a:defRPr sz="1400"/>
            </a:pPr>
            <a:r>
              <a:t>  - Mersenne Twister, Sobol, Halton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Interest Rate &amp; Volatility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Short-Rate Models:</a:t>
            </a:r>
          </a:p>
          <a:p>
            <a:pPr lvl="1">
              <a:defRPr sz="1600"/>
            </a:pPr>
            <a:r>
              <a:t>Hull-White (One and Two Factor)</a:t>
            </a:r>
          </a:p>
          <a:p>
            <a:pPr lvl="1">
              <a:defRPr sz="1600"/>
            </a:pPr>
            <a:r>
              <a:t>Vasicek, Cox-Ingersoll-Ross (CIR)</a:t>
            </a:r>
          </a:p>
          <a:p>
            <a:pPr lvl="1">
              <a:defRPr sz="1600"/>
            </a:pPr>
            <a:r>
              <a:t>G2++ Model</a:t>
            </a:r>
          </a:p>
          <a:p>
            <a:pPr>
              <a:defRPr sz="1800"/>
            </a:pPr>
            <a:r>
              <a:t>Equity Models:</a:t>
            </a:r>
          </a:p>
          <a:p>
            <a:pPr lvl="1">
              <a:defRPr sz="1600"/>
            </a:pPr>
            <a:r>
              <a:t>Heston Stochastic Volatility Model</a:t>
            </a:r>
          </a:p>
          <a:p>
            <a:pPr lvl="1">
              <a:defRPr sz="1600"/>
            </a:pPr>
            <a:r>
              <a:t>Piecewise Time-Dependent Heston</a:t>
            </a:r>
          </a:p>
          <a:p>
            <a:pPr>
              <a:defRPr sz="1800"/>
            </a:pPr>
            <a:r>
              <a:t>Market Models:</a:t>
            </a:r>
          </a:p>
          <a:p>
            <a:pPr lvl="1">
              <a:defRPr sz="1600"/>
            </a:pPr>
            <a:r>
              <a:t>LIBOR Market Model (LMM)</a:t>
            </a:r>
          </a:p>
          <a:p>
            <a:pPr lvl="1">
              <a:defRPr sz="1600"/>
            </a:pPr>
            <a:r>
              <a:t>Calibration support with market helpers</a:t>
            </a:r>
          </a:p>
          <a:p>
            <a:pPr>
              <a:defRPr sz="1800"/>
            </a:pPr>
            <a:r>
              <a:t>All models support:</a:t>
            </a:r>
          </a:p>
          <a:p>
            <a:pPr lvl="1">
              <a:defRPr sz="1600"/>
            </a:pPr>
            <a:r>
              <a:t>Tree-based implementation (Binomial/Trinomial)</a:t>
            </a:r>
          </a:p>
          <a:p>
            <a:pPr lvl="1">
              <a:defRPr sz="1600"/>
            </a:pPr>
            <a:r>
              <a:t>Parameter estimation and calibration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Term Structures &amp; Curves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Curve Types:</a:t>
            </a:r>
          </a:p>
          <a:p>
            <a:pPr lvl="1">
              <a:defRPr sz="1600"/>
            </a:pPr>
            <a:r>
              <a:t>Yield curves from deposits, futures, swaps, bonds</a:t>
            </a:r>
          </a:p>
          <a:p>
            <a:pPr lvl="1">
              <a:defRPr sz="1600"/>
            </a:pPr>
            <a:r>
              <a:t>Volatility surfaces (Interest rate, Equity, Credit)</a:t>
            </a:r>
          </a:p>
          <a:p>
            <a:pPr lvl="1">
              <a:defRPr sz="1600"/>
            </a:pPr>
            <a:r>
              <a:t>Credit curves - default probability structures</a:t>
            </a:r>
          </a:p>
          <a:p>
            <a:pPr lvl="1">
              <a:defRPr sz="1600"/>
            </a:pPr>
            <a:r>
              <a:t>Inflation curves - CPI-linked instruments</a:t>
            </a:r>
          </a:p>
          <a:p>
            <a:pPr lvl="1">
              <a:defRPr sz="1600"/>
            </a:pPr>
            <a:r>
              <a:t>Dividend curves for equity valuation</a:t>
            </a:r>
          </a:p>
          <a:p>
            <a:pPr>
              <a:defRPr sz="1800"/>
            </a:pPr>
            <a:r>
              <a:t>Construction Methods:</a:t>
            </a:r>
          </a:p>
          <a:p>
            <a:pPr lvl="1">
              <a:defRPr sz="1600"/>
            </a:pPr>
            <a:r>
              <a:t>Local bootstrap, Iterative bootstrap</a:t>
            </a:r>
          </a:p>
          <a:p>
            <a:pPr lvl="1">
              <a:defRPr sz="1600"/>
            </a:pPr>
            <a:r>
              <a:t>Interpolation-based construction</a:t>
            </a:r>
          </a:p>
          <a:p>
            <a:pPr lvl="1">
              <a:defRPr sz="1600"/>
            </a:pPr>
            <a:r>
              <a:t>Curve fitting and optimization</a:t>
            </a:r>
          </a:p>
          <a:p>
            <a:pPr lvl="1">
              <a:defRPr sz="1600"/>
            </a:pPr>
            <a:r>
              <a:t>Multi-curve framework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03366"/>
                </a:solidFill>
              </a:rPr>
              <a:t>Utility Code &amp; Helpers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Essential Utilities Available to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Date &amp; Time:</a:t>
            </a:r>
          </a:p>
          <a:p>
            <a:pPr>
              <a:defRPr sz="1400"/>
            </a:pPr>
            <a:r>
              <a:t>• 50+ calendar implementations</a:t>
            </a:r>
          </a:p>
          <a:p>
            <a:pPr>
              <a:defRPr sz="1400"/>
            </a:pPr>
            <a:r>
              <a:t>• Business day conventions</a:t>
            </a:r>
          </a:p>
          <a:p>
            <a:pPr>
              <a:defRPr sz="1400"/>
            </a:pPr>
            <a:r>
              <a:t>• 20+ day count methods</a:t>
            </a:r>
          </a:p>
          <a:p>
            <a:pPr>
              <a:defRPr sz="1400"/>
            </a:pPr>
            <a:r>
              <a:t>• Schedule generation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Currencies &amp; Exchange:</a:t>
            </a:r>
          </a:p>
          <a:p>
            <a:pPr>
              <a:defRPr sz="1400"/>
            </a:pPr>
            <a:r>
              <a:t>• 100+ currency definitions</a:t>
            </a:r>
          </a:p>
          <a:p>
            <a:pPr>
              <a:defRPr sz="1400"/>
            </a:pPr>
            <a:r>
              <a:t>• Exchange rate management</a:t>
            </a:r>
          </a:p>
          <a:p>
            <a:pPr>
              <a:defRPr sz="1400"/>
            </a:pPr>
            <a:r>
              <a:t>• Multi-currency support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Indexes:</a:t>
            </a:r>
          </a:p>
          <a:p>
            <a:pPr>
              <a:defRPr sz="1400"/>
            </a:pPr>
            <a:r>
              <a:t>• LIBOR/EURIBOR indices</a:t>
            </a:r>
          </a:p>
          <a:p>
            <a:pPr>
              <a:defRPr sz="1400"/>
            </a:pPr>
            <a:r>
              <a:t>• Overnight indices (Fed Funds, EONIA)</a:t>
            </a:r>
          </a:p>
          <a:p>
            <a:pPr>
              <a:defRPr sz="1400"/>
            </a:pPr>
            <a:r>
              <a:t>• CPI/inflation indices</a:t>
            </a:r>
          </a:p>
          <a:p>
            <a:pPr>
              <a:defRPr sz="1400"/>
            </a:pPr>
            <a:r>
              <a:t>• Swap indices (CMS rates)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Design Patterns:</a:t>
            </a:r>
          </a:p>
          <a:p>
            <a:pPr>
              <a:defRPr sz="1400"/>
            </a:pPr>
            <a:r>
              <a:t>• Handle&lt;T&gt; - Smart reference management</a:t>
            </a:r>
          </a:p>
          <a:p>
            <a:pPr>
              <a:defRPr sz="1400"/>
            </a:pPr>
            <a:r>
              <a:t>• Observable/Observer - Quote updates</a:t>
            </a:r>
          </a:p>
          <a:p>
            <a:pPr>
              <a:defRPr sz="1400"/>
            </a:pPr>
            <a:r>
              <a:t>• Lazy Evaluation - Deferred calculations</a:t>
            </a:r>
          </a:p>
          <a:p>
            <a:pPr>
              <a:defRPr sz="1400"/>
            </a:pPr>
            <a:r>
              <a:t>• Factory Builders - Instrument creation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Helper Functions:</a:t>
            </a:r>
          </a:p>
          <a:p>
            <a:pPr>
              <a:defRPr sz="1400"/>
            </a:pPr>
            <a:r>
              <a:t>• Utils.Pow() - Fast exponentiation</a:t>
            </a:r>
          </a:p>
          <a:p>
            <a:pPr>
              <a:defRPr sz="1400"/>
            </a:pPr>
            <a:r>
              <a:t>• Utils.QL_REQUIRE/QL_FAIL - Error handling</a:t>
            </a:r>
          </a:p>
          <a:p>
            <a:pPr>
              <a:defRPr sz="1400"/>
            </a:pPr>
            <a:r>
              <a:t>• Extension methods for collections</a:t>
            </a:r>
          </a:p>
          <a:p>
            <a:pPr>
              <a:defRPr sz="1400"/>
            </a:pPr>
            <a:r>
              <a:t>• InitializedList&lt;T&gt; - Auto-initialization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Cashflow Utilities:</a:t>
            </a:r>
          </a:p>
          <a:p>
            <a:pPr>
              <a:defRPr sz="1400"/>
            </a:pPr>
            <a:r>
              <a:t>• Fixed/floating coupon generation</a:t>
            </a:r>
          </a:p>
          <a:p>
            <a:pPr>
              <a:defRPr sz="1400"/>
            </a:pPr>
            <a:r>
              <a:t>• Digital, Range-accrual coupons</a:t>
            </a:r>
          </a:p>
          <a:p>
            <a:pPr>
              <a:defRPr sz="1400"/>
            </a:pPr>
            <a:r>
              <a:t>• CMS, inflation-linked cashflows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Special Features &amp; Bond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Mortgage-Backed Securities (MBS):</a:t>
            </a:r>
          </a:p>
          <a:p>
            <a:pPr lvl="1">
              <a:defRPr sz="1600"/>
            </a:pPr>
            <a:r>
              <a:t>Fixed-rate MBS with prepayment models</a:t>
            </a:r>
          </a:p>
          <a:p>
            <a:pPr lvl="1">
              <a:defRPr sz="1600"/>
            </a:pPr>
            <a:r>
              <a:t>CPR (Constant Prepayment Rate) modeling</a:t>
            </a:r>
          </a:p>
          <a:p>
            <a:pPr lvl="1">
              <a:defRPr sz="1600"/>
            </a:pPr>
            <a:r>
              <a:t>PSA (Public Securities Association) curves</a:t>
            </a:r>
          </a:p>
          <a:p>
            <a:pPr>
              <a:defRPr sz="1800"/>
            </a:pPr>
            <a:r>
              <a:t>Advanced Bond Features:</a:t>
            </a:r>
          </a:p>
          <a:p>
            <a:pPr lvl="1">
              <a:defRPr sz="1600"/>
            </a:pPr>
            <a:r>
              <a:t>Amortizing bonds with floating rates</a:t>
            </a:r>
          </a:p>
          <a:p>
            <a:pPr lvl="1">
              <a:defRPr sz="1600"/>
            </a:pPr>
            <a:r>
              <a:t>Amortized cost accounting support</a:t>
            </a:r>
          </a:p>
          <a:p>
            <a:pPr lvl="1">
              <a:defRPr sz="1600"/>
            </a:pPr>
            <a:r>
              <a:t>Callable bonds with option-adjusted analytics</a:t>
            </a:r>
          </a:p>
          <a:p>
            <a:pPr lvl="1">
              <a:defRPr sz="1600"/>
            </a:pPr>
            <a:r>
              <a:t>CAT bonds (Catastrophe risk bonds)</a:t>
            </a:r>
          </a:p>
          <a:p>
            <a:pPr>
              <a:defRPr sz="1800"/>
            </a:pPr>
            <a:r>
              <a:t>Credit Products:</a:t>
            </a:r>
          </a:p>
          <a:p>
            <a:pPr lvl="1">
              <a:defRPr sz="1600"/>
            </a:pPr>
            <a:r>
              <a:t>Credit Default Swaps with calibration</a:t>
            </a:r>
          </a:p>
          <a:p>
            <a:pPr lvl="1">
              <a:defRPr sz="1600"/>
            </a:pPr>
            <a:r>
              <a:t>Default probability curves</a:t>
            </a:r>
          </a:p>
          <a:p>
            <a:pPr lvl="1">
              <a:defRPr sz="1600"/>
            </a:pPr>
            <a:r>
              <a:t>Credit spread modeling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Modular Design - Mix and match components:</a:t>
            </a:r>
          </a:p>
          <a:p>
            <a:pPr lvl="1">
              <a:defRPr sz="1600"/>
            </a:pPr>
            <a:r>
              <a:t>Instruments - Financial product definitions</a:t>
            </a:r>
          </a:p>
          <a:p>
            <a:pPr lvl="1">
              <a:defRPr sz="1600"/>
            </a:pPr>
            <a:r>
              <a:t>Pricing Engines - Valuation logic (70+ types)</a:t>
            </a:r>
          </a:p>
          <a:p>
            <a:pPr lvl="1">
              <a:defRPr sz="1600"/>
            </a:pPr>
            <a:r>
              <a:t>Term Structures - Curve/surface building</a:t>
            </a:r>
          </a:p>
          <a:p>
            <a:pPr lvl="1">
              <a:defRPr sz="1600"/>
            </a:pPr>
            <a:r>
              <a:t>Methods - Numerical algorithms (MC, FD, Lattice)</a:t>
            </a:r>
          </a:p>
          <a:p>
            <a:pPr lvl="1">
              <a:defRPr sz="1600"/>
            </a:pPr>
            <a:r>
              <a:t>Math - Mathematical foundations (100+ utilities)</a:t>
            </a:r>
          </a:p>
          <a:p>
            <a:pPr lvl="1">
              <a:defRPr sz="1600"/>
            </a:pPr>
            <a:r>
              <a:t>Time - Calendars, dates, day counts</a:t>
            </a:r>
          </a:p>
          <a:p>
            <a:pPr lvl="1">
              <a:defRPr sz="1600"/>
            </a:pPr>
            <a:r>
              <a:t>Cashflows - Coupon/leg structure generation</a:t>
            </a:r>
          </a:p>
          <a:p>
            <a:pPr lvl="1">
              <a:defRPr sz="1600"/>
            </a:pPr>
            <a:r>
              <a:t>Models - Stochastic/econometric models</a:t>
            </a:r>
          </a:p>
          <a:p>
            <a:pPr>
              <a:defRPr sz="1800"/>
            </a:pPr>
            <a:r>
              <a:t>Extensible Framework:</a:t>
            </a:r>
          </a:p>
          <a:p>
            <a:pPr lvl="1">
              <a:defRPr sz="1600"/>
            </a:pPr>
            <a:r>
              <a:t>Generic interfaces for custom implementations</a:t>
            </a:r>
          </a:p>
          <a:p>
            <a:pPr lvl="1">
              <a:defRPr sz="1600"/>
            </a:pPr>
            <a:r>
              <a:t>Consistent API across all components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Equity Option Pricing:</a:t>
            </a:r>
          </a:p>
          <a:p>
            <a:pPr lvl="1">
              <a:defRPr sz="1600"/>
            </a:pPr>
            <a:r>
              <a:t>Set valuation date → Define option parameters</a:t>
            </a:r>
          </a:p>
          <a:p>
            <a:pPr lvl="1">
              <a:defRPr sz="1600"/>
            </a:pPr>
            <a:r>
              <a:t>Build yield/dividend curves → Select engine → Calculate Greeks</a:t>
            </a:r>
          </a:p>
          <a:p>
            <a:pPr>
              <a:defRPr sz="1800"/>
            </a:pPr>
            <a:r>
              <a:t>Swap Valuation:</a:t>
            </a:r>
          </a:p>
          <a:p>
            <a:pPr lvl="1">
              <a:defRPr sz="1600"/>
            </a:pPr>
            <a:r>
              <a:t>Bootstrap yield curve from market data</a:t>
            </a:r>
          </a:p>
          <a:p>
            <a:pPr lvl="1">
              <a:defRPr sz="1600"/>
            </a:pPr>
            <a:r>
              <a:t>Define swap legs (fixed/floating) → Price and analyze risk</a:t>
            </a:r>
          </a:p>
          <a:p>
            <a:pPr>
              <a:defRPr sz="1800"/>
            </a:pPr>
            <a:r>
              <a:t>Bond Pricing:</a:t>
            </a:r>
          </a:p>
          <a:p>
            <a:pPr lvl="1">
              <a:defRPr sz="1600"/>
            </a:pPr>
            <a:r>
              <a:t>Create bond with coupon schedule → Build yield curve</a:t>
            </a:r>
          </a:p>
          <a:p>
            <a:pPr lvl="1">
              <a:defRPr sz="1600"/>
            </a:pPr>
            <a:r>
              <a:t>Calculate price, YTM, duration, convexity, OAS</a:t>
            </a:r>
          </a:p>
          <a:p>
            <a:pPr>
              <a:defRPr sz="1800"/>
            </a:pPr>
            <a:r>
              <a:t>Complete sample implementations available:</a:t>
            </a:r>
          </a:p>
          <a:p>
            <a:pPr lvl="1">
              <a:defRPr sz="1600"/>
            </a:pPr>
            <a:r>
              <a:t>BermudanSwaption, CallableBonds, ConvertibleBonds</a:t>
            </a:r>
          </a:p>
          <a:p>
            <a:pPr lvl="1">
              <a:defRPr sz="1600"/>
            </a:pPr>
            <a:r>
              <a:t>EquityOption, FRA, Swap, Bonds, Repo, CVAIRS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Strengths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✓ Comprehensive: 150+ instruments, 70+ pricing engines</a:t>
            </a:r>
          </a:p>
          <a:p>
            <a:pPr>
              <a:defRPr sz="1800"/>
            </a:pPr>
            <a:r>
              <a:t>✓ Production-Ready: Based on 20+ years of QuantLib development</a:t>
            </a:r>
          </a:p>
          <a:p>
            <a:pPr>
              <a:defRPr sz="1800"/>
            </a:pPr>
            <a:r>
              <a:t>✓ Flexible: Mix-and-match models, curves, and engines</a:t>
            </a:r>
          </a:p>
          <a:p>
            <a:pPr>
              <a:defRPr sz="1800"/>
            </a:pPr>
            <a:r>
              <a:t>✓ Extensible: Generic framework for custom instruments/models</a:t>
            </a:r>
          </a:p>
          <a:p>
            <a:pPr>
              <a:defRPr sz="1800"/>
            </a:pPr>
            <a:r>
              <a:t>✓ Well-Tested: Extensive test suite and sample implementations</a:t>
            </a:r>
          </a:p>
          <a:p>
            <a:pPr>
              <a:defRPr sz="1800"/>
            </a:pPr>
            <a:r>
              <a:t>✓ Open Source: Free, community-supported, transparent code</a:t>
            </a:r>
          </a:p>
          <a:p>
            <a:pPr>
              <a:defRPr sz="1800"/>
            </a:pPr>
            <a:r>
              <a:t>✓ C# Native: Seamless .NET integration, NuGet package</a:t>
            </a:r>
          </a:p>
          <a:p>
            <a:pPr>
              <a:defRPr sz="1800"/>
            </a:pPr>
            <a:r>
              <a:t>✓ Active Development: Regular updates and community contributions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Ideal for: Quantitative finance systems, risk management platforms,</a:t>
            </a:r>
          </a:p>
          <a:p>
            <a:pPr>
              <a:defRPr sz="1800"/>
            </a:pPr>
            <a:r>
              <a:t>trading applications requiring sophisticated derivative pricing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Started with QLNet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Installation:</a:t>
            </a:r>
          </a:p>
          <a:p>
            <a:pPr lvl="1">
              <a:defRPr sz="1600"/>
            </a:pPr>
            <a:r>
              <a:t>Install via NuGet: Install-Package QLNet</a:t>
            </a:r>
          </a:p>
          <a:p>
            <a:pPr lvl="1">
              <a:defRPr sz="1600"/>
            </a:pPr>
            <a:r>
              <a:t>Source available: github.com/amaggiulli/QLNet</a:t>
            </a:r>
          </a:p>
          <a:p>
            <a:pPr>
              <a:defRPr sz="1800"/>
            </a:pPr>
            <a:r>
              <a:t>Documentation:</a:t>
            </a:r>
          </a:p>
          <a:p>
            <a:pPr lvl="1">
              <a:defRPr sz="1600"/>
            </a:pPr>
            <a:r>
              <a:t>Sample projects included in repository</a:t>
            </a:r>
          </a:p>
          <a:p>
            <a:pPr lvl="1">
              <a:defRPr sz="1600"/>
            </a:pPr>
            <a:r>
              <a:t>Based on QuantLib documentation</a:t>
            </a:r>
          </a:p>
          <a:p>
            <a:pPr lvl="1">
              <a:defRPr sz="1600"/>
            </a:pPr>
            <a:r>
              <a:t>Active community support</a:t>
            </a:r>
          </a:p>
          <a:p>
            <a:pPr>
              <a:defRPr sz="1800"/>
            </a:pPr>
            <a:r>
              <a:t>Development Workflow:</a:t>
            </a:r>
          </a:p>
          <a:p>
            <a:pPr lvl="1">
              <a:defRPr sz="1600"/>
            </a:pPr>
            <a:r>
              <a:t>Git Flow workflow (master/develop branches)</a:t>
            </a:r>
          </a:p>
          <a:p>
            <a:pPr lvl="1">
              <a:defRPr sz="1600"/>
            </a:pPr>
            <a:r>
              <a:t>Features via pull requests to develop branch</a:t>
            </a:r>
          </a:p>
          <a:p>
            <a:pPr>
              <a:defRPr sz="1800"/>
            </a:pPr>
            <a:r>
              <a:t>License:</a:t>
            </a:r>
          </a:p>
          <a:p>
            <a:pPr lvl="1">
              <a:defRPr sz="1600"/>
            </a:pPr>
            <a:r>
              <a:t>Open-source license, free for commercial use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003366"/>
                </a:solidFill>
              </a:rPr>
              <a:t>QLNet: Your Financial Library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• Production-Ready • Open Source</a:t>
            </a:r>
          </a:p>
          <a:p/>
          <a:p>
            <a:r>
              <a:t>github.com/amaggiulli/QLNet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